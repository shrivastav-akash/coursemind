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lus Jakarta Sans"/>
      <p:regular r:id="rId17"/>
      <p:bold r:id="rId18"/>
      <p:italic r:id="rId19"/>
      <p:boldItalic r:id="rId20"/>
    </p:embeddedFont>
    <p:embeddedFont>
      <p:font typeface="JetBrains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Italic.fntdata"/><Relationship Id="rId11" Type="http://schemas.openxmlformats.org/officeDocument/2006/relationships/slide" Target="slides/slide6.xml"/><Relationship Id="rId22" Type="http://schemas.openxmlformats.org/officeDocument/2006/relationships/font" Target="fonts/JetBrainsMono-bold.fntdata"/><Relationship Id="rId10" Type="http://schemas.openxmlformats.org/officeDocument/2006/relationships/slide" Target="slides/slide5.xml"/><Relationship Id="rId21" Type="http://schemas.openxmlformats.org/officeDocument/2006/relationships/font" Target="fonts/JetBrainsMono-regular.fntdata"/><Relationship Id="rId13" Type="http://schemas.openxmlformats.org/officeDocument/2006/relationships/slide" Target="slides/slide8.xml"/><Relationship Id="rId24" Type="http://schemas.openxmlformats.org/officeDocument/2006/relationships/font" Target="fonts/JetBrainsMono-boldItalic.fntdata"/><Relationship Id="rId12" Type="http://schemas.openxmlformats.org/officeDocument/2006/relationships/slide" Target="slides/slide7.xml"/><Relationship Id="rId23" Type="http://schemas.openxmlformats.org/officeDocument/2006/relationships/font" Target="fonts/JetBrains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861470"/>
            <a:ext cx="6096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958429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2529929"/>
            <a:ext cx="8601075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Command &amp; Workflow Cheat Sheet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947070"/>
            <a:ext cx="657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Essential commands, branching models, stash operations, and remote repository synchronization.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81100" y="2029866"/>
            <a:ext cx="2488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DEVELOPER REFERENCE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3184326"/>
            <a:ext cx="2600325" cy="1422796"/>
          </a:xfrm>
          <a:prstGeom prst="roundRect">
            <a:avLst>
              <a:gd fmla="val 80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400425" y="3184326"/>
            <a:ext cx="2600325" cy="1422796"/>
          </a:xfrm>
          <a:prstGeom prst="roundRect">
            <a:avLst>
              <a:gd fmla="val 80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191250" y="3184326"/>
            <a:ext cx="2600325" cy="1422796"/>
          </a:xfrm>
          <a:prstGeom prst="roundRect">
            <a:avLst>
              <a:gd fmla="val 80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982075" y="3184326"/>
            <a:ext cx="2600325" cy="1422796"/>
          </a:xfrm>
          <a:prstGeom prst="roundRect">
            <a:avLst>
              <a:gd fmla="val 80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474839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3474839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3474839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3474839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ARCHITECTURE BASICS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Git Building Blocks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7725" y="3851076"/>
            <a:ext cx="2219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Snapshot state of codebase.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638550" y="3851076"/>
            <a:ext cx="2219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Pointer to specific commit.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29375" y="3851076"/>
            <a:ext cx="2219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Permanent named reference pointer.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220200" y="3851076"/>
            <a:ext cx="2219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 working directory pointer.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228725" y="3460551"/>
            <a:ext cx="10701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Commit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933825" y="3460551"/>
            <a:ext cx="99012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Branch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24650" y="3460551"/>
            <a:ext cx="6500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Tag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544050" y="3460551"/>
            <a:ext cx="8601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609600" y="2519362"/>
            <a:ext cx="5334000" cy="2752725"/>
          </a:xfrm>
          <a:prstGeom prst="roundRect">
            <a:avLst>
              <a:gd fmla="val 41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248400" y="2605087"/>
            <a:ext cx="5334000" cy="2581275"/>
          </a:xfrm>
          <a:prstGeom prst="roundRect">
            <a:avLst>
              <a:gd fmla="val 442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85825" y="3224212"/>
            <a:ext cx="4781550" cy="514350"/>
          </a:xfrm>
          <a:prstGeom prst="roundRect">
            <a:avLst>
              <a:gd fmla="val 148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885825" y="3852862"/>
            <a:ext cx="4781550" cy="514350"/>
          </a:xfrm>
          <a:prstGeom prst="roundRect">
            <a:avLst>
              <a:gd fmla="val 148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85825" y="4481512"/>
            <a:ext cx="4781550" cy="514350"/>
          </a:xfrm>
          <a:prstGeom prst="roundRect">
            <a:avLst>
              <a:gd fmla="val 148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524625" y="3309937"/>
            <a:ext cx="4781550" cy="742950"/>
          </a:xfrm>
          <a:prstGeom prst="roundRect">
            <a:avLst>
              <a:gd fmla="val 1025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524625" y="4167187"/>
            <a:ext cx="4781550" cy="742950"/>
          </a:xfrm>
          <a:prstGeom prst="roundRect">
            <a:avLst>
              <a:gd fmla="val 1025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819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9051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SETUP &amp; INITIALIZATION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Configuration &amp; Repository Creation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38225" y="3376612"/>
            <a:ext cx="4572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config --global user.name "Name"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38225" y="4005262"/>
            <a:ext cx="4572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config --global user.email "mail"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38225" y="4633912"/>
            <a:ext cx="4572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config --global color.ui auto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77025" y="3462337"/>
            <a:ext cx="4572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init [project-name]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677025" y="4319587"/>
            <a:ext cx="4572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clone 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71575" y="2795587"/>
            <a:ext cx="25253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Configuration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810375" y="2881312"/>
            <a:ext cx="252531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Starting Repositories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677025" y="3729037"/>
            <a:ext cx="5514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Initialize local repository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677025" y="4586287"/>
            <a:ext cx="5514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Download repository with full history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609600" y="2295525"/>
            <a:ext cx="5172075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09600" y="2295525"/>
            <a:ext cx="38100" cy="6953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09600" y="3105150"/>
            <a:ext cx="5172075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09600" y="3105150"/>
            <a:ext cx="38100" cy="6953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09600" y="3914775"/>
            <a:ext cx="5172075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09600" y="3914775"/>
            <a:ext cx="38100" cy="6953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09600" y="4724400"/>
            <a:ext cx="5172075" cy="695325"/>
          </a:xfrm>
          <a:prstGeom prst="roundRect">
            <a:avLst>
              <a:gd fmla="val 82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09600" y="4724400"/>
            <a:ext cx="38100" cy="69532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475" y="2143125"/>
            <a:ext cx="54959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2305050"/>
            <a:ext cx="517207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DAILY WORKFLOW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Staging, Inspecting &amp; Committing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00100" y="2428875"/>
            <a:ext cx="48863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status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00100" y="3238500"/>
            <a:ext cx="48863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add [file]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00100" y="4048125"/>
            <a:ext cx="48863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diff --staged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00100" y="4857750"/>
            <a:ext cx="48863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commit -m "msg"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38200" y="2676525"/>
            <a:ext cx="59412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Display working directory state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38200" y="3486150"/>
            <a:ext cx="59412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modified file for commit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38200" y="4295775"/>
            <a:ext cx="59412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Show staged changes versus HEAD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38200" y="5105400"/>
            <a:ext cx="59412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permanent snapshot commit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6410325" y="2276475"/>
            <a:ext cx="5172075" cy="704850"/>
          </a:xfrm>
          <a:prstGeom prst="roundRect">
            <a:avLst>
              <a:gd fmla="val 108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410325" y="3095625"/>
            <a:ext cx="5172075" cy="704850"/>
          </a:xfrm>
          <a:prstGeom prst="roundRect">
            <a:avLst>
              <a:gd fmla="val 108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410325" y="3914775"/>
            <a:ext cx="5172075" cy="704850"/>
          </a:xfrm>
          <a:prstGeom prst="roundRect">
            <a:avLst>
              <a:gd fmla="val 108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410325" y="4733925"/>
            <a:ext cx="5172075" cy="704850"/>
          </a:xfrm>
          <a:prstGeom prst="roundRect">
            <a:avLst>
              <a:gd fmla="val 1081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143125"/>
            <a:ext cx="54959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05050"/>
            <a:ext cx="517207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BRANCHING MODEL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Branching, Switching &amp; Merging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581775" y="2409825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branch [branch-name]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581775" y="3228975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checkout -b [name]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581775" y="4048125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merge [branch-name]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581775" y="4867275"/>
            <a:ext cx="4924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rebase [target]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591300" y="2667000"/>
            <a:ext cx="5600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isolated branch pointer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591300" y="3486150"/>
            <a:ext cx="5600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and switch working directory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591300" y="4305300"/>
            <a:ext cx="5600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 target branch into active branch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591300" y="5124450"/>
            <a:ext cx="5600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Apply commits onto linear target HEAD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609600" y="2725191"/>
            <a:ext cx="3505200" cy="2341066"/>
          </a:xfrm>
          <a:prstGeom prst="roundRect">
            <a:avLst>
              <a:gd fmla="val 48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4343400" y="2725191"/>
            <a:ext cx="3505200" cy="2341066"/>
          </a:xfrm>
          <a:prstGeom prst="roundRect">
            <a:avLst>
              <a:gd fmla="val 48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077200" y="2725191"/>
            <a:ext cx="3505200" cy="2341066"/>
          </a:xfrm>
          <a:prstGeom prst="roundRect">
            <a:avLst>
              <a:gd fmla="val 48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3951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03951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03951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163341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1062" y="3163341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3437" y="3163341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WORK PRESERVATION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Storing Work in Stash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38200" y="3029991"/>
            <a:ext cx="3143250" cy="173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stash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4572000" y="3029991"/>
            <a:ext cx="3143250" cy="173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stash pop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305800" y="3029991"/>
            <a:ext cx="3143250" cy="173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stash drop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47725" y="3687216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Save Stash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847725" y="4325391"/>
            <a:ext cx="31242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Shelve active uncommitted modifications safely.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4581525" y="3687216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Pop Stash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4581525" y="4325391"/>
            <a:ext cx="31242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Restore latest stashed changes and clear entry.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315325" y="3687216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Drop Stash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315325" y="4325391"/>
            <a:ext cx="31242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Discard specific shelved changes permanently.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609600" y="2717452"/>
            <a:ext cx="5334000" cy="2356395"/>
          </a:xfrm>
          <a:prstGeom prst="roundRect">
            <a:avLst>
              <a:gd fmla="val 48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248400" y="3007965"/>
            <a:ext cx="5334000" cy="1775370"/>
          </a:xfrm>
          <a:prstGeom prst="roundRect">
            <a:avLst>
              <a:gd fmla="val 643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885825" y="3384202"/>
            <a:ext cx="4781550" cy="466725"/>
          </a:xfrm>
          <a:prstGeom prst="roundRect">
            <a:avLst>
              <a:gd fmla="val 1632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885825" y="3965227"/>
            <a:ext cx="4781550" cy="466725"/>
          </a:xfrm>
          <a:prstGeom prst="roundRect">
            <a:avLst>
              <a:gd fmla="val 1632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6524625" y="3674715"/>
            <a:ext cx="4781550" cy="466725"/>
          </a:xfrm>
          <a:prstGeom prst="roundRect">
            <a:avLst>
              <a:gd fmla="val 1632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AUDIT &amp; HISTORY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Commit History &amp; Reflog Inspection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85825" y="2993677"/>
            <a:ext cx="62757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Commit Timeline Log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19175" y="3517552"/>
            <a:ext cx="4610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log -n [count]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019175" y="4098577"/>
            <a:ext cx="4610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log --oneline --graph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885825" y="4584352"/>
            <a:ext cx="59769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timeline of merged repository commits.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524625" y="3284190"/>
            <a:ext cx="5667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Operations Journal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657975" y="3808065"/>
            <a:ext cx="4610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reflog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524625" y="4293840"/>
            <a:ext cx="5667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Records all checkout and commit updates locally.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609600" y="3160365"/>
            <a:ext cx="5334000" cy="1470570"/>
          </a:xfrm>
          <a:prstGeom prst="roundRect">
            <a:avLst>
              <a:gd fmla="val 777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6248400" y="3160365"/>
            <a:ext cx="5334000" cy="1470570"/>
          </a:xfrm>
          <a:prstGeom prst="roundRect">
            <a:avLst>
              <a:gd fmla="val 7772" name="adj"/>
            </a:avLst>
          </a:prstGeom>
          <a:solidFill>
            <a:srgbClr val="FFFFFF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885825" y="3446115"/>
            <a:ext cx="1590675" cy="219075"/>
          </a:xfrm>
          <a:prstGeom prst="roundRect">
            <a:avLst>
              <a:gd fmla="val 17391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524625" y="3446115"/>
            <a:ext cx="1304925" cy="219075"/>
          </a:xfrm>
          <a:prstGeom prst="roundRect">
            <a:avLst>
              <a:gd fmla="val 1739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UNDO OPERATIONS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Resetting &amp; Reverting Changes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62025" y="3484215"/>
            <a:ext cx="153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 NON-DESTRUCTIVE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85825" y="3789015"/>
            <a:ext cx="62757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revert [commit-sha]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85825" y="4141440"/>
            <a:ext cx="597693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Creates inverse commit safely without modifying previous history.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600825" y="3484215"/>
            <a:ext cx="1247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DESTRUCTIVE RESET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524625" y="3789015"/>
            <a:ext cx="5667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reset --hard [target]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6524625" y="4141440"/>
            <a:ext cx="5667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Discards uncommitted changes instantly. Easy to lose work.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>
            <a:off x="609600" y="2743200"/>
            <a:ext cx="5334000" cy="2305050"/>
          </a:xfrm>
          <a:prstGeom prst="roundRect">
            <a:avLst>
              <a:gd fmla="val 49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248400" y="2697658"/>
            <a:ext cx="5334000" cy="2396132"/>
          </a:xfrm>
          <a:prstGeom prst="roundRect">
            <a:avLst>
              <a:gd fmla="val 477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6524625" y="3364408"/>
            <a:ext cx="4781550" cy="1157882"/>
          </a:xfrm>
          <a:prstGeom prst="roundRect">
            <a:avLst>
              <a:gd fmla="val 658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885825" y="3409950"/>
            <a:ext cx="4781550" cy="390525"/>
          </a:xfrm>
          <a:prstGeom prst="roundRect">
            <a:avLst>
              <a:gd fmla="val 1463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885825" y="3895725"/>
            <a:ext cx="4781550" cy="390525"/>
          </a:xfrm>
          <a:prstGeom prst="roundRect">
            <a:avLst>
              <a:gd fmla="val 1463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885825" y="4381500"/>
            <a:ext cx="4781550" cy="390525"/>
          </a:xfrm>
          <a:prstGeom prst="roundRect">
            <a:avLst>
              <a:gd fmla="val 1463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REMOTES &amp; RULES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Remote Sync &amp; File Ignoring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85825" y="3019425"/>
            <a:ext cx="62757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Remote Synchronization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524625" y="2973883"/>
            <a:ext cx="5667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Ignoring Files (.gitignore)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677025" y="3516808"/>
            <a:ext cx="457200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7F3D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/logs/*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A7F3D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!logs/.gitkeep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A7F3D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/tmp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A7F3D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*.swp 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524625" y="4636591"/>
            <a:ext cx="566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Excludes matching path patterns recursively.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019175" y="3505200"/>
            <a:ext cx="4610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fetch [remote]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019175" y="3990975"/>
            <a:ext cx="4610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pull [remote]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019175" y="4476750"/>
            <a:ext cx="4610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push -u [remote] [branch]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/>
          <p:nvPr/>
        </p:nvSpPr>
        <p:spPr>
          <a:xfrm>
            <a:off x="4524375" y="3362325"/>
            <a:ext cx="3143250" cy="619125"/>
          </a:xfrm>
          <a:prstGeom prst="roundRect">
            <a:avLst>
              <a:gd fmla="val 1846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4953000" y="2314575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973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RESOURCES &amp; INSTALLATION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745456" y="2600325"/>
            <a:ext cx="87010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Ready to Master Version Control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4436268" y="3552825"/>
            <a:ext cx="33194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sudo apt-get install git 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2714625" y="4286250"/>
            <a:ext cx="6762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 the official Pro Git book online for free at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git-scm.com/book</a:t>
            </a: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1666875" y="1038225"/>
            <a:ext cx="73937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https://media.geeksforgeeks.org/wp-content/cdn-uploads/20210401194608/GIT-WorkFlow.png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1666875" y="1238250"/>
            <a:ext cx="3012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www.geeksforgeeks.org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1666875" y="1809750"/>
            <a:ext cx="87034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https://user-images.githubusercontent.com/1256329/80170009-f9d03200-85b4-11ea-94d3-3041887565ac.png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1666875" y="2009775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www.bryanbraun.com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